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Illustrative Quarterly Revenue Trend (NGN, Millions)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(NGN M)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Q1'24</c:v>
                  </c:pt>
                  <c:pt idx="1">
                    <c:v>Q2'24</c:v>
                  </c:pt>
                  <c:pt idx="2">
                    <c:v>Q3'24</c:v>
                  </c:pt>
                  <c:pt idx="3">
                    <c:v>Q4'24</c:v>
                  </c:pt>
                  <c:pt idx="4">
                    <c:v>Q1'25</c:v>
                  </c:pt>
                  <c:pt idx="5">
                    <c:v>Q2'25</c:v>
                  </c:pt>
                  <c:pt idx="6">
                    <c:v>Q3'25</c:v>
                  </c:pt>
                  <c:pt idx="7">
                    <c:v>Q4'25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</c:v>
                </c:pt>
                <c:pt idx="1">
                  <c:v>118</c:v>
                </c:pt>
                <c:pt idx="2">
                  <c:v>124</c:v>
                </c:pt>
                <c:pt idx="3">
                  <c:v>165</c:v>
                </c:pt>
                <c:pt idx="4">
                  <c:v>122</c:v>
                </c:pt>
                <c:pt idx="5">
                  <c:v>128</c:v>
                </c:pt>
                <c:pt idx="6">
                  <c:v>133</c:v>
                </c:pt>
                <c:pt idx="7">
                  <c:v>172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Gross Margin % Trend (Illustrative Quarterly View)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C0392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Q1'24</c:v>
                  </c:pt>
                  <c:pt idx="1">
                    <c:v>Q2'24</c:v>
                  </c:pt>
                  <c:pt idx="2">
                    <c:v>Q3'24</c:v>
                  </c:pt>
                  <c:pt idx="3">
                    <c:v>Q4'24</c:v>
                  </c:pt>
                  <c:pt idx="4">
                    <c:v>Q1'25</c:v>
                  </c:pt>
                  <c:pt idx="5">
                    <c:v>Q2'25</c:v>
                  </c:pt>
                  <c:pt idx="6">
                    <c:v>Q3'25</c:v>
                  </c:pt>
                  <c:pt idx="7">
                    <c:v>Q4'25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23.2</c:v>
                </c:pt>
                <c:pt idx="1">
                  <c:v>22.8</c:v>
                </c:pt>
                <c:pt idx="2">
                  <c:v>22.1</c:v>
                </c:pt>
                <c:pt idx="3">
                  <c:v>21.4</c:v>
                </c:pt>
                <c:pt idx="4">
                  <c:v>21.8</c:v>
                </c:pt>
                <c:pt idx="5">
                  <c:v>21</c:v>
                </c:pt>
                <c:pt idx="6">
                  <c:v>20.6</c:v>
                </c:pt>
                <c:pt idx="7">
                  <c:v>20.1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C0392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Revenue Contribution by Customer Tier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7B39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Top 5% of Customers</c:v>
                </c:pt>
                <c:pt idx="1">
                  <c:v>Remaining 95%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10.1</c:v>
                </c:pt>
                <c:pt idx="1">
                  <c:v>89.9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58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6358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PRESENTATION TO EXECUTIVE LEADERSHIP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Profitability &amp; Performance Optimization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Analytics Transformation Engagement for ApexMart Retail Ltd.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Business Analytics Consulting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growing, but profit is not keeping pace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has fallen from 23.2% to 20.1% over the analysis period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is not visible to head office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regional teams work from disconnected spreadsheets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886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out of balance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products are overstocked while others risk running out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937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is uneven and unmanaged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5303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program exists for the highest-value customers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Business Situation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of transaction data across 20 branches and five regions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2F4FA"/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1.01B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analyzed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 months)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21945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2F4FA"/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3291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gross margin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2F4FA"/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3291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across 5 regions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21945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2F4FA"/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4688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0" y="3291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has scaled successfully — the challenge now is converting that scale into sustainable profit.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Assessment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 analytics foundation had to be built before any figure could be reported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92608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transactions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Unmapped customer references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&amp; retained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store codes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product codes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calculation mismatches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~140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payment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&amp; flagged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1% of transactions required correction — but left unresolved, these issues would have distorted every downstream figure.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 with a strong seasonal (festive) pattern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2084832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20116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across every quarter analyzed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909560" y="3044952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97180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carries a pronounced festive-season spike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09560" y="4005072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0" name="Text 7"/>
          <p:cNvSpPr/>
          <p:nvPr/>
        </p:nvSpPr>
        <p:spPr>
          <a:xfrm>
            <a:off x="8138160" y="39319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largest single category at 52.7% of revenue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09560" y="4965192"/>
            <a:ext cx="109728" cy="1097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489204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has been driven by expansion and promotions — not yet by profitability discipline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eroding even as revenue grows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20116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DEDEA"/>
          </a:solidFill>
          <a:ln w="12700">
            <a:solidFill>
              <a:srgbClr val="F3C6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-3.2 pts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0924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decline, first quarter vs. most recent quarter analyzed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55280" y="3840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discount depth is the single strongest driver of lower margin — deeper discounts correlate directly with thinner profit.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share of customers drives a disproportionate share of revenue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920240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217627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26364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5% of customers (about 126 of 2,505) generate over 10% of total revenue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35040" y="313639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263640" y="3063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currently no structured retention program targeting this segment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35040" y="40965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40233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rates vary across signup cohorts without a clear underlying driver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35040" y="50566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49834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loyalty tier is a high-leverage, low-cost opportunity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and stockout risk exist side by side across the network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product-store combinations are overstocked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DEDE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2331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1772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at or below their reorder level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4E5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331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48M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6676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inventory value tied up in slow-moving stock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replenishment is driven by fixed reorder points rather than actual sales velocity — moving to demand-based replenishment resolves both problems at once.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Findings —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erosion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8288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fell 3.2 points, concentrated in deep-discount transactions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700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variance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67004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Revenue-per-employee varies over 4x among similarly-sized branches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5112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imbalance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351129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overstock and stockout risk across the network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35254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concentration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435254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 of customers drive over 10% of total revenue, unmanaged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1937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fragmentation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519379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shared, governed view of sales, inventory, or marketing performance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201168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discount-approval thresholds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2240280"/>
            <a:ext cx="685800" cy="6858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60920" y="201168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 the bottom-margin product tail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886200"/>
            <a:ext cx="685800" cy="6858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86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65760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inventory across the network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35204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886200"/>
            <a:ext cx="685800" cy="6858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886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365760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branch operating discipline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532120"/>
            <a:ext cx="685800" cy="6858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32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530352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marketing-to-POS attribution gap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51663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5532120"/>
            <a:ext cx="685800" cy="6858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5532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60920" y="530352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high-value customer retention program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six-month rollout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data reconciliation; fix sync errors; establish single source of truth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2B3A8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7472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2-3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352044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thresholds; store performance dashboard; supplier renegotiation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0936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inventory; add campaign tracking; launch retention program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2B3A8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Institutionalize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4400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5-6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0" y="352044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data-quality checks; embed dashboards in management routine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outcomes, sized directly from the reconciled dataset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2F4FA"/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16.2M / yr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recovery from closing the margin gap via discount governance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2F4FA"/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8.6M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1188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Working-capital release from reducing overstocked inventory by 18%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2F4FA"/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 → lower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targeted in product-store combinations at stockout 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21031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2F4FA"/>
          </a:solidFill>
          <a:ln w="12700">
            <a:solidFill>
              <a:srgbClr val="D8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source of truth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8972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fragmented spreadsheets with a governed reporting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above are simulated estimates for planning purposes, derived from this engagement's reconciled dataset, and should be validated against ApexMart's live financials before being committed to budget.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Retail Ltd. — Retail Profitability &amp; Performance Optimization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26358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26358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ApexMart has proven it can grow. The next chapter is proving it can grow profitably — with a trustworthy data foundation, disciplined discount governance, and executive visibility that turns performance data into fast, confident decisions.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beginning Phase 1 (data stabilization and discount governance) immediately, given its direct line to the NGN 16.2M/year profitability opportunity identified in this engagement.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2026-08-03T20:23:21Z</dcterms:created>
  <dcterms:modified xsi:type="dcterms:W3CDTF">2026-08-03T20:23:21Z</dcterms:modified>
</cp:coreProperties>
</file>